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WasiAI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246120" y="10972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 Ingeniería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Factory  ×  BMAD Method v6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equipos que construyen productos Web3/AI en producción real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754880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7548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 Method v6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475488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E84142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47548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Factory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0" y="4754880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2D7DD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0" y="47548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/ Web3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× Fer  —  WasiAI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una metodología?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en producción con bugs de seguridad (API keys expuestas, path traversal)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74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1874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mezclados: el Dev toma decisiones de arquitectura sin spec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" y="2697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implementadas sin que el PO haya leído lo que se va a construir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" y="3246120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5204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🐛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4400" y="3520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que pasan pero el producto falla (51 tests verdes, 3 vulns en prod)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4069080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3434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4400" y="4343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Retrabajo por specs ambiguas o incompletas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5760" y="5577840"/>
            <a:ext cx="11430000" cy="731520"/>
          </a:xfrm>
          <a:prstGeom prst="roundRect">
            <a:avLst>
              <a:gd name="adj" fmla="val 12500"/>
            </a:avLst>
          </a:prstGeom>
          <a:solidFill>
            <a:srgbClr val="FFF3CD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metodología no es burocracia — es la diferencia entre código que pasa tests y código que sobrevive producción.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frameworks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00" cy="5120640"/>
          </a:xfrm>
          <a:prstGeom prst="roundRect">
            <a:avLst>
              <a:gd name="adj" fmla="val 2679"/>
            </a:avLst>
          </a:prstGeom>
          <a:solidFill>
            <a:srgbClr val="EEF2FF"/>
          </a:solidFill>
          <a:ln w="38100">
            <a:solidFill>
              <a:srgbClr val="4F46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5486400" cy="6400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 Method v6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Agentes especializados por fase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PM · Architect · Dev · QA separados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14553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Gates de aprobación explícitos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803904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Story files autocontenidos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46227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Adversarial Review obligatorio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1206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Cadencia semanal (Planning/Status/Retro)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005840"/>
            <a:ext cx="5486400" cy="5120640"/>
          </a:xfrm>
          <a:prstGeom prst="roundRect">
            <a:avLst>
              <a:gd name="adj" fmla="val 2679"/>
            </a:avLst>
          </a:prstGeom>
          <a:solidFill>
            <a:srgbClr val="FEF2F2"/>
          </a:solidFill>
          <a:ln w="38100">
            <a:solidFill>
              <a:srgbClr val="E841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005840"/>
            <a:ext cx="5486400" cy="64008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00584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Factory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18288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Golden Path — stack inmutable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248716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Reglas que ningún agente viola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314553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Next.js · Supabase · Avalanche · viem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3803904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Sin ethers.js · Sin hardcodes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446227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Sin NEXT_PUBLIC_ para secrets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51206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Sin datos simulados en producción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completo — visión general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1828800" cy="3474720"/>
          </a:xfrm>
          <a:prstGeom prst="roundRect">
            <a:avLst>
              <a:gd name="adj" fmla="val 6000"/>
            </a:avLst>
          </a:prstGeom>
          <a:solidFill>
            <a:srgbClr val="6B728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188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463040" cy="347472"/>
          </a:xfrm>
          <a:prstGeom prst="roundRect">
            <a:avLst>
              <a:gd name="adj" fmla="val 18421"/>
            </a:avLst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945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21408" y="2514600"/>
            <a:ext cx="128016" cy="365760"/>
          </a:xfrm>
          <a:prstGeom prst="rightArrow">
            <a:avLst/>
          </a:prstGeom>
          <a:solidFill>
            <a:srgbClr val="888888"/>
          </a:solidFill>
          <a:ln/>
        </p:spPr>
      </p:sp>
      <p:sp>
        <p:nvSpPr>
          <p:cNvPr id="11" name="Shape 9"/>
          <p:cNvSpPr/>
          <p:nvPr/>
        </p:nvSpPr>
        <p:spPr>
          <a:xfrm>
            <a:off x="2267712" y="1097280"/>
            <a:ext cx="1828800" cy="3474720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2267712" y="1188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50592" y="2194560"/>
            <a:ext cx="1463040" cy="347472"/>
          </a:xfrm>
          <a:prstGeom prst="roundRect">
            <a:avLst>
              <a:gd name="adj" fmla="val 18421"/>
            </a:avLst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2450592" y="21945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0" y="2514600"/>
            <a:ext cx="128016" cy="365760"/>
          </a:xfrm>
          <a:prstGeom prst="rightArrow">
            <a:avLst/>
          </a:prstGeom>
          <a:solidFill>
            <a:srgbClr val="888888"/>
          </a:solidFill>
          <a:ln/>
        </p:spPr>
      </p:sp>
      <p:sp>
        <p:nvSpPr>
          <p:cNvPr id="16" name="Shape 14"/>
          <p:cNvSpPr/>
          <p:nvPr/>
        </p:nvSpPr>
        <p:spPr>
          <a:xfrm>
            <a:off x="4261104" y="1097280"/>
            <a:ext cx="1828800" cy="3474720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4261104" y="1188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443984" y="2194560"/>
            <a:ext cx="1463040" cy="347472"/>
          </a:xfrm>
          <a:prstGeom prst="roundRect">
            <a:avLst>
              <a:gd name="adj" fmla="val 18421"/>
            </a:avLst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4443984" y="21945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08192" y="2514600"/>
            <a:ext cx="128016" cy="365760"/>
          </a:xfrm>
          <a:prstGeom prst="rightArrow">
            <a:avLst/>
          </a:prstGeom>
          <a:solidFill>
            <a:srgbClr val="888888"/>
          </a:solidFill>
          <a:ln/>
        </p:spPr>
      </p:sp>
      <p:sp>
        <p:nvSpPr>
          <p:cNvPr id="21" name="Shape 19"/>
          <p:cNvSpPr/>
          <p:nvPr/>
        </p:nvSpPr>
        <p:spPr>
          <a:xfrm>
            <a:off x="6254496" y="1097280"/>
            <a:ext cx="1828800" cy="3474720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/>
        </p:spPr>
      </p:sp>
      <p:sp>
        <p:nvSpPr>
          <p:cNvPr id="22" name="Text 20"/>
          <p:cNvSpPr/>
          <p:nvPr/>
        </p:nvSpPr>
        <p:spPr>
          <a:xfrm>
            <a:off x="6254496" y="1188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2.5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File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37376" y="2194560"/>
            <a:ext cx="1463040" cy="347472"/>
          </a:xfrm>
          <a:prstGeom prst="roundRect">
            <a:avLst>
              <a:gd name="adj" fmla="val 18421"/>
            </a:avLst>
          </a:prstGeom>
          <a:solidFill>
            <a:srgbClr val="00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6437376" y="21945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01584" y="2514600"/>
            <a:ext cx="128016" cy="365760"/>
          </a:xfrm>
          <a:prstGeom prst="rightArrow">
            <a:avLst/>
          </a:prstGeom>
          <a:solidFill>
            <a:srgbClr val="888888"/>
          </a:solidFill>
          <a:ln/>
        </p:spPr>
      </p:sp>
      <p:sp>
        <p:nvSpPr>
          <p:cNvPr id="26" name="Shape 24"/>
          <p:cNvSpPr/>
          <p:nvPr/>
        </p:nvSpPr>
        <p:spPr>
          <a:xfrm>
            <a:off x="8247888" y="1097280"/>
            <a:ext cx="1828800" cy="3474720"/>
          </a:xfrm>
          <a:prstGeom prst="roundRect">
            <a:avLst>
              <a:gd name="adj" fmla="val 6000"/>
            </a:avLst>
          </a:prstGeom>
          <a:solidFill>
            <a:srgbClr val="E84142"/>
          </a:solidFill>
          <a:ln/>
        </p:spPr>
      </p:sp>
      <p:sp>
        <p:nvSpPr>
          <p:cNvPr id="27" name="Text 25"/>
          <p:cNvSpPr/>
          <p:nvPr/>
        </p:nvSpPr>
        <p:spPr>
          <a:xfrm>
            <a:off x="8247888" y="1188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430768" y="2194560"/>
            <a:ext cx="1463040" cy="347472"/>
          </a:xfrm>
          <a:prstGeom prst="roundRect">
            <a:avLst>
              <a:gd name="adj" fmla="val 18421"/>
            </a:avLst>
          </a:prstGeom>
          <a:solidFill>
            <a:srgbClr val="00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8430768" y="21945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Nexus+BMAD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094976" y="2514600"/>
            <a:ext cx="128016" cy="365760"/>
          </a:xfrm>
          <a:prstGeom prst="rightArrow">
            <a:avLst/>
          </a:prstGeom>
          <a:solidFill>
            <a:srgbClr val="888888"/>
          </a:solidFill>
          <a:ln/>
        </p:spPr>
      </p:sp>
      <p:sp>
        <p:nvSpPr>
          <p:cNvPr id="31" name="Shape 29"/>
          <p:cNvSpPr/>
          <p:nvPr/>
        </p:nvSpPr>
        <p:spPr>
          <a:xfrm>
            <a:off x="10241280" y="1097280"/>
            <a:ext cx="1828800" cy="347472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10241280" y="1188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0424160" y="2194560"/>
            <a:ext cx="1463040" cy="347472"/>
          </a:xfrm>
          <a:prstGeom prst="roundRect">
            <a:avLst>
              <a:gd name="adj" fmla="val 18421"/>
            </a:avLst>
          </a:prstGeom>
          <a:solidFill>
            <a:srgbClr val="00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10424160" y="21945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993392" y="484632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1993392" y="4846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GATE 1: HU_APPROVED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86784" y="484632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3986784" y="4846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GATE 2: SPEC_APPROVED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74320" y="5577840"/>
            <a:ext cx="1197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gate requiere aprobación EXPLÍCITA de Fer — "sí" / "dale" no activa el gate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 — Contexto del Proyecto  [Nexus Factory]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E8414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FACTORY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vez al inicio, y cuando hay cambios grandes (nuevo contrato, nueva épica, cambio de stack).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y mantiene project-context.md — el archivo que todos los agentes cargan antes de operar.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788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Golden Path — reglas inmutables: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46120"/>
            <a:ext cx="2194560" cy="54864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3246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Web2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0" y="32461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· Supabase (Postgres+Auth+RLS) · Tailwind · next-intl · Upstash Redis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959352"/>
            <a:ext cx="2194560" cy="54864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95935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Web3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3959352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C-Chain · Solidity 0.8.24 · Foundry · viem v2 · wagmi v3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672584"/>
            <a:ext cx="2194560" cy="54864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672584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4672584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+ ERC-3009 · uvd-x402-sdk · NUNCA ethers.js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5385816"/>
            <a:ext cx="2194560" cy="54864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538581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duras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0" y="5385816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NEXT_PUBLIC_ para secrets · Sin hardcodes de addresses · Sin datos simulados en prod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Discovery  [BMAD: PM + Analyst + Architect]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 METHOD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11430000" cy="1234440"/>
          </a:xfrm>
          <a:prstGeom prst="roundRect">
            <a:avLst>
              <a:gd name="adj" fmla="val 8889"/>
            </a:avLst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55448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5544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150876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vaga → Brainstorm / Brief / Market Research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86000" y="2103120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Cuando la idea necesita validación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11430000" cy="1234440"/>
          </a:xfrm>
          <a:prstGeom prst="roundRect">
            <a:avLst>
              <a:gd name="adj" fmla="val 8889"/>
            </a:avLst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01752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0175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(S0)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297180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HU + Acceptance Criteria + Scope + Riesgos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86000" y="3566160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Siempre, por cada feature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389120"/>
            <a:ext cx="11430000" cy="1234440"/>
          </a:xfrm>
          <a:prstGeom prst="roundRect">
            <a:avLst>
              <a:gd name="adj" fmla="val 8889"/>
            </a:avLst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48056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4F46E5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4805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0" y="443484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técnica compleja → ADR documentado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286000" y="5029200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Nuevo contrato / nueva tabla crítica / cambio de patrón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5943600"/>
            <a:ext cx="1143000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GATE 1: HU_APPROVED — Fer lee el artefacto S0 y escribe "HU_APPROVED" explícitamente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Spec  [BMAD: SDD Generator + Readiness Check]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 METHOD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— Software Design Document (SDD)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Rutas y endpoints exactos (método, path, headers, body, respuesta)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Schema de DB (tablas nuevas, columnas, RLS policies)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Cambios on-chain (contrato, eventos, funciones)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Componentes UI (estructura, props, estado)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Definition of Done (checklist verificable)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4434840"/>
            <a:ext cx="11430000" cy="68580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4805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Implementation Readiness Check  →  ¿Es implementable sin ambigüedades? ¿Todas las dependencias listas? ¿ACs verificables?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5349240"/>
            <a:ext cx="11430000" cy="68580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3492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GATE 2: SPEC_APPROVED — Fer lee el SDD y escribe "SPEC_APPROVED" explícitamente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2.5 — Story File  [BMAD: Scrum Master]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 METHOD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11430000" cy="109728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Sin story file aprobado → NO se empieza a codear. Sin excepciones.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27432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contiene el story file (story-HU-X.X.md)?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32461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Historia de usuario completa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7947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Acceptance Criteria verificables (uno a uno)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4343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Estructura de archivos exacta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48920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API pública / tipos / interfaces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32461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Endpoints que consume y produce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37947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Definition of Done con checkboxes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4343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Notas de implementación (patrones del codebase)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5852160"/>
            <a:ext cx="11430000" cy="64008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Dev implementa SOLO desde el story file — sin necesitar contexto adicional ni preguntar al PM.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Implementación  [Nexus Factory + BMAD: Dev]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E8414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FACTORY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96012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9601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BMAD: Dev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508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obligatorio de implementación: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196596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25400">
            <a:solidFill>
              <a:srgbClr val="E841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103120"/>
            <a:ext cx="457200" cy="45720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1488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de DB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7432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cambio de schema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196596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25400">
            <a:solidFill>
              <a:srgbClr val="E841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0" y="2103120"/>
            <a:ext cx="457200" cy="45720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8" name="Text 16"/>
          <p:cNvSpPr/>
          <p:nvPr/>
        </p:nvSpPr>
        <p:spPr>
          <a:xfrm>
            <a:off x="44348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21488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+ forge tests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34840" y="27432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cambio on-chain (59/59)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0" y="196596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66760" y="210312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3" name="Text 21"/>
          <p:cNvSpPr/>
          <p:nvPr/>
        </p:nvSpPr>
        <p:spPr>
          <a:xfrm>
            <a:off x="836676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15400" y="21488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66760" y="27432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services, lógica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74904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88620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39319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45262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hooks, pages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97680" y="374904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34840" y="388620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3" name="Text 31"/>
          <p:cNvSpPr/>
          <p:nvPr/>
        </p:nvSpPr>
        <p:spPr>
          <a:xfrm>
            <a:off x="443484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983480" y="39319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unitarios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434840" y="45262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junto al código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5577840"/>
            <a:ext cx="11430000" cy="594360"/>
          </a:xfrm>
          <a:prstGeom prst="roundRect">
            <a:avLst>
              <a:gd name="adj" fmla="val 15385"/>
            </a:avLst>
          </a:prstGeom>
          <a:solidFill>
            <a:srgbClr val="FEE2E2"/>
          </a:solidFill>
          <a:ln w="25400">
            <a:solidFill>
              <a:srgbClr val="E841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557784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Adversarial Review ANTES de cada commit — busca bugs reales, no valida que todo está bien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Review — El más importante  [BMAD]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 METHOD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trabajo es ENCONTRAR problemas, no confirmar que todo está bien.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5669280" cy="1005840"/>
          </a:xfrm>
          <a:prstGeom prst="roundRect">
            <a:avLst>
              <a:gd name="adj" fmla="val 9091"/>
            </a:avLst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560" y="21031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bypass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5146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accesibles sin autenticación, escalada de privilegios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2057400"/>
            <a:ext cx="5669280" cy="1005840"/>
          </a:xfrm>
          <a:prstGeom prst="roundRect">
            <a:avLst>
              <a:gd name="adj" fmla="val 9091"/>
            </a:avLst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086600" y="21031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86600" y="25146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con URLs del usuario que pueden apuntar a servicios internos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5669280" cy="1005840"/>
          </a:xfrm>
          <a:prstGeom prst="roundRect">
            <a:avLst>
              <a:gd name="adj" fmla="val 9091"/>
            </a:avLst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51560" y="32918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703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financieras sin atomicidad (doble cobro, doble gasto)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3246120"/>
            <a:ext cx="5669280" cy="1005840"/>
          </a:xfrm>
          <a:prstGeom prst="roundRect">
            <a:avLst>
              <a:gd name="adj" fmla="val 9091"/>
            </a:avLst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086600" y="32918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expuestas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86600" y="3703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en logs, mensajes de error, atributos públicos de objetos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434840"/>
            <a:ext cx="5669280" cy="1005840"/>
          </a:xfrm>
          <a:prstGeom prst="roundRect">
            <a:avLst>
              <a:gd name="adj" fmla="val 9091"/>
            </a:avLst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51560" y="44805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48920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Addresses, amounts, URLs hardcodeadas en lugar de env vars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4434840"/>
            <a:ext cx="5669280" cy="1005840"/>
          </a:xfrm>
          <a:prstGeom prst="roundRect">
            <a:avLst>
              <a:gd name="adj" fmla="val 9091"/>
            </a:avLst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086600" y="44805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simulados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86600" y="48920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Mocks o datos falsos en rutas de producción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594360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 BLOQUEANTE (impide aprobar)  ·  MENOR (debe corregirse)  ·  OK (confirmado correcto)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— Validación  [BMAD: QA + Checklist]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 METHOD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F0FDF4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544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por ACs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Verifica cada AC del story file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596896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Contra la implementación real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090672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asume — lee el código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584448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✅ CUMPLE / ❌ NO CUMPLE / ⚠️ PARCIAL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4078224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APROBADO o FALLA QA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146304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EEF2FF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5544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final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210312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forge test → todos pasan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2596896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npm run build → 0 errores 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3090672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Sin ethers.js imports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3584448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RLS verificado en tablas nuevas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4078224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Adversarial Review pasado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457200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DoD del story: todos ✅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937760"/>
            <a:ext cx="11430000" cy="68580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937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origin master master:main  →  Vercel auto-deploya en producción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760" y="576072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QA se hace DESDE los ACs del story — no desde lo que se implementó.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Gates — Puntos de control del PO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gates son los únicos puntos donde el Product Owner (Fer) decide si se avanza.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11430000" cy="2011680"/>
          </a:xfrm>
          <a:prstGeom prst="roundRect">
            <a:avLst>
              <a:gd name="adj" fmla="val 5455"/>
            </a:avLst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GATE 1: HU_APPROVED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Fase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606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Activa el gate: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 con ACs claros y verificables  ·  Scope definido  ·  Riesgos identificados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activa el gate: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9260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"Go"  ·  "Dale"  ·  "Sí"  ·  "Suena bien"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886200"/>
            <a:ext cx="11430000" cy="2011680"/>
          </a:xfrm>
          <a:prstGeom prst="roundRect">
            <a:avLst>
              <a:gd name="adj" fmla="val 5455"/>
            </a:avLst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97764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39776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GATE 2: SPEC_APPROVED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4480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Fase 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92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Activa el gate: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52120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técnico completo  ·  Implementation Readiness pasado  ·  DoD verificable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4892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activa el gate: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52120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"Implementa"  ·  "Empieza"  ·  "Avanza"  ·  "SEPC_aproved"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Cadencia Semanal  [BMAD: SM]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 METHOD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3657600" cy="4937760"/>
          </a:xfrm>
          <a:prstGeom prst="roundRect">
            <a:avLst>
              <a:gd name="adj" fmla="val 3750"/>
            </a:avLst>
          </a:prstGeom>
          <a:solidFill>
            <a:srgbClr val="EEF2FF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463040"/>
            <a:ext cx="3657600" cy="7315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Sprint Planning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Define las 3 historias de la semana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0632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Prioriza desde el BACKLOG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7033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Establece criterios de éxito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343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Genera sprint-status.yaml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1463040"/>
            <a:ext cx="3657600" cy="4937760"/>
          </a:xfrm>
          <a:prstGeom prst="roundRect">
            <a:avLst>
              <a:gd name="adj" fmla="val 3750"/>
            </a:avLst>
          </a:prstGeom>
          <a:solidFill>
            <a:srgbClr val="EEF2FF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1463040"/>
            <a:ext cx="3657600" cy="7315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Miércoles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9768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Sprint Status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80560" y="24231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¿Qué está hecho?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80560" y="30632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¿Qué está bloqueado?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37033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¿El ritmo es realista?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0" y="4343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Ajusta si es necesario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0" y="1463040"/>
            <a:ext cx="3657600" cy="4937760"/>
          </a:xfrm>
          <a:prstGeom prst="roundRect">
            <a:avLst>
              <a:gd name="adj" fmla="val 3750"/>
            </a:avLst>
          </a:prstGeom>
          <a:solidFill>
            <a:srgbClr val="EEF2FF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1463040"/>
            <a:ext cx="3657600" cy="7315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Viernes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Retrospectiva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12480" y="24231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¿Qué funcionó?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0" y="30632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¿Qué no funcionó?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12480" y="37033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¿Qué cambiamos?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0" y="4343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Actualiza METHODOLOGY.md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frecuentes — Aprendidos en producción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57200" cy="45720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0515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sin story file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453896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SDD no reemplaza al story. El Dev necesita un artefacto autocontenido, no un documento de diseño.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57200" cy="45720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01168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"Go" como gate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414016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gates requieren el texto exacto. "Dale", "sí", "suena bien" no activan el gate. La firma tiene que ser tuya.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57200" cy="45720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29718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salta el AR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3374136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Adversarial Review busca problemas. El Code Review refina calidad. Son distintos y ambos son obligatorios.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977640"/>
            <a:ext cx="457200" cy="45720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39319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verdes ≠ producción segura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4334256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tests pasan, 3 vulnerabilidades en prod. Los tests prueban el happy path. El AR prueba los ataques.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937760"/>
            <a:ext cx="457200" cy="45720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489204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mezclados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5294376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Dev no toma decisiones de arquitectura. El PM no implementa. Cada agente tiene su fase y su contexto.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— Mapa completo de la metodología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1828800" cy="1645920"/>
          </a:xfrm>
          <a:prstGeom prst="roundRect">
            <a:avLst>
              <a:gd name="adj" fmla="val 6667"/>
            </a:avLst>
          </a:prstGeom>
          <a:solidFill>
            <a:srgbClr val="6B728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344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67128" y="1874520"/>
            <a:ext cx="128016" cy="274320"/>
          </a:xfrm>
          <a:prstGeom prst="rightArrow">
            <a:avLst/>
          </a:prstGeom>
          <a:solidFill>
            <a:srgbClr val="888888"/>
          </a:solidFill>
          <a:ln/>
        </p:spPr>
      </p:sp>
      <p:sp>
        <p:nvSpPr>
          <p:cNvPr id="9" name="Shape 7"/>
          <p:cNvSpPr/>
          <p:nvPr/>
        </p:nvSpPr>
        <p:spPr>
          <a:xfrm>
            <a:off x="2313432" y="1097280"/>
            <a:ext cx="1828800" cy="1645920"/>
          </a:xfrm>
          <a:prstGeom prst="roundRect">
            <a:avLst>
              <a:gd name="adj" fmla="val 6667"/>
            </a:avLst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2313432" y="12344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 + ACs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96312" y="224028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2496312" y="2240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60520" y="1874520"/>
            <a:ext cx="128016" cy="274320"/>
          </a:xfrm>
          <a:prstGeom prst="rightArrow">
            <a:avLst/>
          </a:prstGeom>
          <a:solidFill>
            <a:srgbClr val="88888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06824" y="1097280"/>
            <a:ext cx="1828800" cy="1645920"/>
          </a:xfrm>
          <a:prstGeom prst="roundRect">
            <a:avLst>
              <a:gd name="adj" fmla="val 6667"/>
            </a:avLst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306824" y="12344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GATE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HU_APPROVED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53912" y="1874520"/>
            <a:ext cx="128016" cy="274320"/>
          </a:xfrm>
          <a:prstGeom prst="rightArrow">
            <a:avLst/>
          </a:prstGeom>
          <a:solidFill>
            <a:srgbClr val="888888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0216" y="1097280"/>
            <a:ext cx="1828800" cy="1645920"/>
          </a:xfrm>
          <a:prstGeom prst="roundRect">
            <a:avLst>
              <a:gd name="adj" fmla="val 6667"/>
            </a:avLst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6300216" y="12344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83096" y="224028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6483096" y="2240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147304" y="1874520"/>
            <a:ext cx="128016" cy="274320"/>
          </a:xfrm>
          <a:prstGeom prst="rightArrow">
            <a:avLst/>
          </a:prstGeom>
          <a:solidFill>
            <a:srgbClr val="888888"/>
          </a:solidFill>
          <a:ln/>
        </p:spPr>
      </p:sp>
      <p:sp>
        <p:nvSpPr>
          <p:cNvPr id="22" name="Shape 20"/>
          <p:cNvSpPr/>
          <p:nvPr/>
        </p:nvSpPr>
        <p:spPr>
          <a:xfrm>
            <a:off x="8293608" y="1097280"/>
            <a:ext cx="1828800" cy="1645920"/>
          </a:xfrm>
          <a:prstGeom prst="roundRect">
            <a:avLst>
              <a:gd name="adj" fmla="val 6667"/>
            </a:avLst>
          </a:prstGeom>
          <a:solidFill>
            <a:srgbClr val="4F46E5"/>
          </a:solidFill>
          <a:ln/>
        </p:spPr>
      </p:sp>
      <p:sp>
        <p:nvSpPr>
          <p:cNvPr id="23" name="Text 21"/>
          <p:cNvSpPr/>
          <p:nvPr/>
        </p:nvSpPr>
        <p:spPr>
          <a:xfrm>
            <a:off x="8293608" y="12344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476488" y="224028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8476488" y="2240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140696" y="1874520"/>
            <a:ext cx="128016" cy="274320"/>
          </a:xfrm>
          <a:prstGeom prst="rightArrow">
            <a:avLst/>
          </a:prstGeom>
          <a:solidFill>
            <a:srgbClr val="888888"/>
          </a:solidFill>
          <a:ln/>
        </p:spPr>
      </p:sp>
      <p:sp>
        <p:nvSpPr>
          <p:cNvPr id="27" name="Shape 25"/>
          <p:cNvSpPr/>
          <p:nvPr/>
        </p:nvSpPr>
        <p:spPr>
          <a:xfrm>
            <a:off x="10287000" y="1097280"/>
            <a:ext cx="1828800" cy="1645920"/>
          </a:xfrm>
          <a:prstGeom prst="roundRect">
            <a:avLst>
              <a:gd name="adj" fmla="val 6667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10287000" y="12344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GATE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SPEC_APPROVED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383280"/>
            <a:ext cx="1828800" cy="1645920"/>
          </a:xfrm>
          <a:prstGeom prst="roundRect">
            <a:avLst>
              <a:gd name="adj" fmla="val 6667"/>
            </a:avLst>
          </a:prstGeom>
          <a:solidFill>
            <a:srgbClr val="4F46E5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35204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File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452628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4526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167128" y="4160520"/>
            <a:ext cx="128016" cy="274320"/>
          </a:xfrm>
          <a:prstGeom prst="rightArrow">
            <a:avLst/>
          </a:prstGeom>
          <a:solidFill>
            <a:srgbClr val="888888"/>
          </a:solidFill>
          <a:ln/>
        </p:spPr>
      </p:sp>
      <p:sp>
        <p:nvSpPr>
          <p:cNvPr id="34" name="Shape 32"/>
          <p:cNvSpPr/>
          <p:nvPr/>
        </p:nvSpPr>
        <p:spPr>
          <a:xfrm>
            <a:off x="2313432" y="3383280"/>
            <a:ext cx="1828800" cy="1645920"/>
          </a:xfrm>
          <a:prstGeom prst="roundRect">
            <a:avLst>
              <a:gd name="adj" fmla="val 6667"/>
            </a:avLst>
          </a:prstGeom>
          <a:solidFill>
            <a:srgbClr val="E84142"/>
          </a:solidFill>
          <a:ln/>
        </p:spPr>
      </p:sp>
      <p:sp>
        <p:nvSpPr>
          <p:cNvPr id="35" name="Text 33"/>
          <p:cNvSpPr/>
          <p:nvPr/>
        </p:nvSpPr>
        <p:spPr>
          <a:xfrm>
            <a:off x="2313432" y="35204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496312" y="452628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2496312" y="4526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60520" y="4160520"/>
            <a:ext cx="128016" cy="274320"/>
          </a:xfrm>
          <a:prstGeom prst="rightArrow">
            <a:avLst/>
          </a:prstGeom>
          <a:solidFill>
            <a:srgbClr val="888888"/>
          </a:solidFill>
          <a:ln/>
        </p:spPr>
      </p:sp>
      <p:sp>
        <p:nvSpPr>
          <p:cNvPr id="39" name="Shape 37"/>
          <p:cNvSpPr/>
          <p:nvPr/>
        </p:nvSpPr>
        <p:spPr>
          <a:xfrm>
            <a:off x="4306824" y="3383280"/>
            <a:ext cx="1828800" cy="1645920"/>
          </a:xfrm>
          <a:prstGeom prst="roundRect">
            <a:avLst>
              <a:gd name="adj" fmla="val 6667"/>
            </a:avLst>
          </a:prstGeom>
          <a:solidFill>
            <a:srgbClr val="4F46E5"/>
          </a:solidFill>
          <a:ln/>
        </p:spPr>
      </p:sp>
      <p:sp>
        <p:nvSpPr>
          <p:cNvPr id="40" name="Text 38"/>
          <p:cNvSpPr/>
          <p:nvPr/>
        </p:nvSpPr>
        <p:spPr>
          <a:xfrm>
            <a:off x="4306824" y="35204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489704" y="452628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4489704" y="4526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53912" y="4160520"/>
            <a:ext cx="128016" cy="274320"/>
          </a:xfrm>
          <a:prstGeom prst="rightArrow">
            <a:avLst/>
          </a:prstGeom>
          <a:solidFill>
            <a:srgbClr val="888888"/>
          </a:solidFill>
          <a:ln/>
        </p:spPr>
      </p:sp>
      <p:sp>
        <p:nvSpPr>
          <p:cNvPr id="44" name="Shape 42"/>
          <p:cNvSpPr/>
          <p:nvPr/>
        </p:nvSpPr>
        <p:spPr>
          <a:xfrm>
            <a:off x="6300216" y="3383280"/>
            <a:ext cx="1828800" cy="1645920"/>
          </a:xfrm>
          <a:prstGeom prst="roundRect">
            <a:avLst>
              <a:gd name="adj" fmla="val 6667"/>
            </a:avLst>
          </a:prstGeom>
          <a:solidFill>
            <a:srgbClr val="4F46E5"/>
          </a:solidFill>
          <a:ln/>
        </p:spPr>
      </p:sp>
      <p:sp>
        <p:nvSpPr>
          <p:cNvPr id="45" name="Text 43"/>
          <p:cNvSpPr/>
          <p:nvPr/>
        </p:nvSpPr>
        <p:spPr>
          <a:xfrm>
            <a:off x="6300216" y="35204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83096" y="452628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/>
        </p:spPr>
      </p:sp>
      <p:sp>
        <p:nvSpPr>
          <p:cNvPr id="47" name="Text 45"/>
          <p:cNvSpPr/>
          <p:nvPr/>
        </p:nvSpPr>
        <p:spPr>
          <a:xfrm>
            <a:off x="6483096" y="4526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147304" y="4160520"/>
            <a:ext cx="128016" cy="274320"/>
          </a:xfrm>
          <a:prstGeom prst="rightArrow">
            <a:avLst/>
          </a:prstGeom>
          <a:solidFill>
            <a:srgbClr val="888888"/>
          </a:solidFill>
          <a:ln/>
        </p:spPr>
      </p:sp>
      <p:sp>
        <p:nvSpPr>
          <p:cNvPr id="49" name="Shape 47"/>
          <p:cNvSpPr/>
          <p:nvPr/>
        </p:nvSpPr>
        <p:spPr>
          <a:xfrm>
            <a:off x="8293608" y="3383280"/>
            <a:ext cx="1828800" cy="1645920"/>
          </a:xfrm>
          <a:prstGeom prst="roundRect">
            <a:avLst>
              <a:gd name="adj" fmla="val 6667"/>
            </a:avLst>
          </a:prstGeom>
          <a:solidFill>
            <a:srgbClr val="10B981"/>
          </a:solidFill>
          <a:ln/>
        </p:spPr>
      </p:sp>
      <p:sp>
        <p:nvSpPr>
          <p:cNvPr id="50" name="Text 48"/>
          <p:cNvSpPr/>
          <p:nvPr/>
        </p:nvSpPr>
        <p:spPr>
          <a:xfrm>
            <a:off x="8293608" y="35204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476488" y="4526280"/>
            <a:ext cx="1463040" cy="32004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/>
        </p:spPr>
      </p:sp>
      <p:sp>
        <p:nvSpPr>
          <p:cNvPr id="52" name="Text 50"/>
          <p:cNvSpPr/>
          <p:nvPr/>
        </p:nvSpPr>
        <p:spPr>
          <a:xfrm>
            <a:off x="8476488" y="4526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0140696" y="4160520"/>
            <a:ext cx="128016" cy="274320"/>
          </a:xfrm>
          <a:prstGeom prst="rightArrow">
            <a:avLst/>
          </a:prstGeom>
          <a:solidFill>
            <a:srgbClr val="888888"/>
          </a:solidFill>
          <a:ln/>
        </p:spPr>
      </p:sp>
      <p:sp>
        <p:nvSpPr>
          <p:cNvPr id="54" name="Shape 52"/>
          <p:cNvSpPr/>
          <p:nvPr/>
        </p:nvSpPr>
        <p:spPr>
          <a:xfrm>
            <a:off x="10287000" y="3383280"/>
            <a:ext cx="1828800" cy="1645920"/>
          </a:xfrm>
          <a:prstGeom prst="roundRect">
            <a:avLst>
              <a:gd name="adj" fmla="val 6667"/>
            </a:avLst>
          </a:prstGeom>
          <a:solidFill>
            <a:srgbClr val="1F2937"/>
          </a:solidFill>
          <a:ln/>
        </p:spPr>
      </p:sp>
      <p:sp>
        <p:nvSpPr>
          <p:cNvPr id="55" name="Text 53"/>
          <p:cNvSpPr/>
          <p:nvPr/>
        </p:nvSpPr>
        <p:spPr>
          <a:xfrm>
            <a:off x="10287000" y="35204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20040" y="6217920"/>
            <a:ext cx="274320" cy="2743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7" name="Text 55"/>
          <p:cNvSpPr/>
          <p:nvPr/>
        </p:nvSpPr>
        <p:spPr>
          <a:xfrm>
            <a:off x="685800" y="6217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 Method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246120" y="6217920"/>
            <a:ext cx="274320" cy="2743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59" name="Text 57"/>
          <p:cNvSpPr/>
          <p:nvPr/>
        </p:nvSpPr>
        <p:spPr>
          <a:xfrm>
            <a:off x="3611880" y="6217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Factory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172200" y="6217920"/>
            <a:ext cx="27432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1" name="Text 59"/>
          <p:cNvSpPr/>
          <p:nvPr/>
        </p:nvSpPr>
        <p:spPr>
          <a:xfrm>
            <a:off x="6537960" y="6217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(PO)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9098280" y="6217920"/>
            <a:ext cx="27432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3" name="Text 61"/>
          <p:cNvSpPr/>
          <p:nvPr/>
        </p:nvSpPr>
        <p:spPr>
          <a:xfrm>
            <a:off x="9464040" y="6217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metodología existe porque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bien es más rápido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construir dos veces.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51 tests verdes ≠ producción segura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251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Los gates protegen al equipo, no lo frenan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El story file es el contrato entre PM y Dev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5257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El AR busca el peor caso, no el mejor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Factory × BMAD Method v6  —  WasiAI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WasiAI Dev Methodology</dc:title>
  <dc:subject>Metodología Nexus Factory × BMAD v6</dc:subject>
  <dc:creator>San × WasiAI</dc:creator>
  <cp:lastModifiedBy>San × WasiAI</cp:lastModifiedBy>
  <cp:revision>1</cp:revision>
  <dcterms:created xsi:type="dcterms:W3CDTF">2026-02-26T18:09:10Z</dcterms:created>
  <dcterms:modified xsi:type="dcterms:W3CDTF">2026-02-26T18:09:10Z</dcterms:modified>
</cp:coreProperties>
</file>